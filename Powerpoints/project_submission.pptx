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9"/>
  </p:notesMasterIdLst>
  <p:handoutMasterIdLst>
    <p:handoutMasterId r:id="rId10"/>
  </p:handoutMasterIdLst>
  <p:sldIdLst>
    <p:sldId id="258" r:id="rId2"/>
    <p:sldId id="300" r:id="rId3"/>
    <p:sldId id="288" r:id="rId4"/>
    <p:sldId id="289" r:id="rId5"/>
    <p:sldId id="293" r:id="rId6"/>
    <p:sldId id="259" r:id="rId7"/>
    <p:sldId id="29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on Shamir" initials="r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992D6F-E654-7243-EB3F-823B449E14D2}" v="80" dt="2026-05-24T14:37:28.6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80"/>
    <p:restoredTop sz="92197"/>
  </p:normalViewPr>
  <p:slideViewPr>
    <p:cSldViewPr>
      <p:cViewPr varScale="1">
        <p:scale>
          <a:sx n="110" d="100"/>
          <a:sy n="110" d="100"/>
        </p:scale>
        <p:origin x="2512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334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262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am shimshoviz" userId="S::shimshn@biu.ac.il::3382102a-6c84-41cd-a151-289321d1acbb" providerId="AD" clId="Web-{50992D6F-E654-7243-EB3F-823B449E14D2}"/>
    <pc:docChg chg="modSld">
      <pc:chgData name="noam shimshoviz" userId="S::shimshn@biu.ac.il::3382102a-6c84-41cd-a151-289321d1acbb" providerId="AD" clId="Web-{50992D6F-E654-7243-EB3F-823B449E14D2}" dt="2026-05-24T14:37:28.681" v="72" actId="20577"/>
      <pc:docMkLst>
        <pc:docMk/>
      </pc:docMkLst>
      <pc:sldChg chg="modSp">
        <pc:chgData name="noam shimshoviz" userId="S::shimshn@biu.ac.il::3382102a-6c84-41cd-a151-289321d1acbb" providerId="AD" clId="Web-{50992D6F-E654-7243-EB3F-823B449E14D2}" dt="2026-05-24T13:37:03.976" v="5" actId="20577"/>
        <pc:sldMkLst>
          <pc:docMk/>
          <pc:sldMk cId="0" sldId="258"/>
        </pc:sldMkLst>
        <pc:spChg chg="mod">
          <ac:chgData name="noam shimshoviz" userId="S::shimshn@biu.ac.il::3382102a-6c84-41cd-a151-289321d1acbb" providerId="AD" clId="Web-{50992D6F-E654-7243-EB3F-823B449E14D2}" dt="2026-05-24T13:37:03.976" v="5" actId="20577"/>
          <ac:spMkLst>
            <pc:docMk/>
            <pc:sldMk cId="0" sldId="258"/>
            <ac:spMk id="2051" creationId="{00000000-0000-0000-0000-000000000000}"/>
          </ac:spMkLst>
        </pc:spChg>
      </pc:sldChg>
      <pc:sldChg chg="modSp">
        <pc:chgData name="noam shimshoviz" userId="S::shimshn@biu.ac.il::3382102a-6c84-41cd-a151-289321d1acbb" providerId="AD" clId="Web-{50992D6F-E654-7243-EB3F-823B449E14D2}" dt="2026-05-24T14:32:24.710" v="54" actId="20577"/>
        <pc:sldMkLst>
          <pc:docMk/>
          <pc:sldMk cId="0" sldId="288"/>
        </pc:sldMkLst>
        <pc:spChg chg="mod">
          <ac:chgData name="noam shimshoviz" userId="S::shimshn@biu.ac.il::3382102a-6c84-41cd-a151-289321d1acbb" providerId="AD" clId="Web-{50992D6F-E654-7243-EB3F-823B449E14D2}" dt="2026-05-24T14:32:24.710" v="54" actId="20577"/>
          <ac:spMkLst>
            <pc:docMk/>
            <pc:sldMk cId="0" sldId="288"/>
            <ac:spMk id="32772" creationId="{00000000-0000-0000-0000-000000000000}"/>
          </ac:spMkLst>
        </pc:spChg>
      </pc:sldChg>
      <pc:sldChg chg="modSp">
        <pc:chgData name="noam shimshoviz" userId="S::shimshn@biu.ac.il::3382102a-6c84-41cd-a151-289321d1acbb" providerId="AD" clId="Web-{50992D6F-E654-7243-EB3F-823B449E14D2}" dt="2026-05-24T14:33:09.931" v="65" actId="20577"/>
        <pc:sldMkLst>
          <pc:docMk/>
          <pc:sldMk cId="0" sldId="289"/>
        </pc:sldMkLst>
        <pc:spChg chg="mod">
          <ac:chgData name="noam shimshoviz" userId="S::shimshn@biu.ac.il::3382102a-6c84-41cd-a151-289321d1acbb" providerId="AD" clId="Web-{50992D6F-E654-7243-EB3F-823B449E14D2}" dt="2026-05-24T14:33:09.931" v="65" actId="20577"/>
          <ac:spMkLst>
            <pc:docMk/>
            <pc:sldMk cId="0" sldId="289"/>
            <ac:spMk id="33795" creationId="{00000000-0000-0000-0000-000000000000}"/>
          </ac:spMkLst>
        </pc:spChg>
      </pc:sldChg>
      <pc:sldChg chg="modSp">
        <pc:chgData name="noam shimshoviz" userId="S::shimshn@biu.ac.il::3382102a-6c84-41cd-a151-289321d1acbb" providerId="AD" clId="Web-{50992D6F-E654-7243-EB3F-823B449E14D2}" dt="2026-05-24T14:37:28.681" v="72" actId="20577"/>
        <pc:sldMkLst>
          <pc:docMk/>
          <pc:sldMk cId="66797758" sldId="299"/>
        </pc:sldMkLst>
        <pc:spChg chg="mod">
          <ac:chgData name="noam shimshoviz" userId="S::shimshn@biu.ac.il::3382102a-6c84-41cd-a151-289321d1acbb" providerId="AD" clId="Web-{50992D6F-E654-7243-EB3F-823B449E14D2}" dt="2026-05-24T14:37:28.681" v="72" actId="20577"/>
          <ac:spMkLst>
            <pc:docMk/>
            <pc:sldMk cId="66797758" sldId="299"/>
            <ac:spMk id="3" creationId="{00000000-0000-0000-0000-000000000000}"/>
          </ac:spMkLst>
        </pc:spChg>
      </pc:sldChg>
      <pc:sldChg chg="modSp">
        <pc:chgData name="noam shimshoviz" userId="S::shimshn@biu.ac.il::3382102a-6c84-41cd-a151-289321d1acbb" providerId="AD" clId="Web-{50992D6F-E654-7243-EB3F-823B449E14D2}" dt="2026-05-24T13:37:21.664" v="11" actId="20577"/>
        <pc:sldMkLst>
          <pc:docMk/>
          <pc:sldMk cId="2042482847" sldId="300"/>
        </pc:sldMkLst>
        <pc:spChg chg="mod">
          <ac:chgData name="noam shimshoviz" userId="S::shimshn@biu.ac.il::3382102a-6c84-41cd-a151-289321d1acbb" providerId="AD" clId="Web-{50992D6F-E654-7243-EB3F-823B449E14D2}" dt="2026-05-24T13:37:21.664" v="11" actId="20577"/>
          <ac:spMkLst>
            <pc:docMk/>
            <pc:sldMk cId="2042482847" sldId="300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27FE94-C263-4E33-9B75-EC69F7810B4F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8AB1F-CADB-45FC-B986-762F1E6825B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0366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363F8A5E-00D7-4F3D-B2FF-7FBAF3F05F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1188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D7988A6-883E-4273-B11C-323979383CF7}" type="slidenum">
              <a:rPr lang="he-IL" smtClean="0"/>
              <a:pPr/>
              <a:t>1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00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A281CF3-8BEE-402A-B703-44CFF8E12E4A}" type="slidenum">
              <a:rPr lang="he-IL" smtClean="0"/>
              <a:pPr/>
              <a:t>3</a:t>
            </a:fld>
            <a:endParaRPr lang="en-US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0700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cs typeface="Arial" charset="0"/>
            </a:endParaRPr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117EA3F-6339-46B5-863F-7EE57A43A068}" type="slidenum">
              <a:rPr lang="he-IL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2405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DA88D59-925B-428A-B791-9B55F53B0486}" type="slidenum">
              <a:rPr lang="he-IL" smtClean="0"/>
              <a:pPr/>
              <a:t>5</a:t>
            </a:fld>
            <a:endParaRPr lang="en-US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1164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3F8A5E-00D7-4F3D-B2FF-7FBAF3F05FBE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695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5483D30-9A4C-43C3-B461-8FDB740EF04D}" type="slidenum">
              <a:rPr lang="he-IL"/>
              <a:pPr>
                <a:defRPr/>
              </a:pPr>
              <a:t>‹#›</a:t>
            </a:fld>
            <a:endParaRPr lang="en-US"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2750" y="228600"/>
            <a:ext cx="2152650" cy="59404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228600"/>
            <a:ext cx="6305550" cy="59404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2CBE1E2-4554-44B8-AE69-1DB14AE7A33E}" type="slidenum">
              <a:rPr lang="he-IL"/>
              <a:pPr>
                <a:defRPr/>
              </a:pPr>
              <a:t>‹#›</a:t>
            </a:fld>
            <a:endParaRPr lang="en-US"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E5AB82-7054-4EC3-A630-6935BB9C12ED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3E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228600"/>
            <a:ext cx="8458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520825"/>
            <a:ext cx="86106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4"/>
          </p:nvPr>
        </p:nvSpPr>
        <p:spPr bwMode="auto">
          <a:xfrm>
            <a:off x="7239000" y="6453188"/>
            <a:ext cx="1905000" cy="40481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 rtl="1" eaLnBrk="0" hangingPunct="0">
              <a:defRPr smtClean="0"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462AF8B4-FFBB-42C7-8622-9DEE9F8B906E}" type="slidenum">
              <a:rPr lang="he-IL"/>
              <a:pPr>
                <a:defRPr/>
              </a:pPr>
              <a:t>‹#›</a:t>
            </a:fld>
            <a:endParaRPr lang="en-US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700" r:id="rId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 bldLvl="2" autoUpdateAnimBg="0">
        <p:tmplLst>
          <p:tmpl lvl="1">
            <p:tnLst>
              <p:par>
                <p:cTn presetID="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7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7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7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7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7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7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7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7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7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7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7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7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7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7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7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omic Sans MS" pitchFamily="66" charset="0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omic Sans MS" pitchFamily="66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omic Sans MS" pitchFamily="66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omic Sans MS" pitchFamily="66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omic Sans MS" pitchFamily="66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omic Sans MS" pitchFamily="66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omic Sans MS" pitchFamily="66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omic Sans MS" pitchFamily="66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omic Sans MS" pitchFamily="66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Comic Sans MS" pitchFamily="66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Comic Sans MS" pitchFamily="66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Comic Sans MS" pitchFamily="66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omic Sans MS" pitchFamily="66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omic Sans MS" pitchFamily="66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066800"/>
            <a:ext cx="8077200" cy="3442320"/>
          </a:xfrm>
          <a:noFill/>
        </p:spPr>
        <p:txBody>
          <a:bodyPr/>
          <a:lstStyle/>
          <a:p>
            <a:pPr rtl="0"/>
            <a:r>
              <a:rPr lang="en-US" sz="4000" dirty="0">
                <a:latin typeface="Comic Sans MS"/>
              </a:rPr>
              <a:t>Predicting  PBM </a:t>
            </a:r>
            <a:r>
              <a:rPr lang="en-US" sz="4000">
                <a:latin typeface="Comic Sans MS"/>
              </a:rPr>
              <a:t>binding</a:t>
            </a:r>
            <a:r>
              <a:rPr lang="en-US" sz="4000" dirty="0">
                <a:latin typeface="Comic Sans MS"/>
              </a:rPr>
              <a:t> </a:t>
            </a:r>
            <a:br>
              <a:rPr lang="en-US" sz="4000" dirty="0"/>
            </a:br>
            <a:r>
              <a:rPr lang="en-US" sz="4000" dirty="0">
                <a:latin typeface="Comic Sans MS"/>
              </a:rPr>
              <a:t>based on an amino acid sequence</a:t>
            </a:r>
            <a:br>
              <a:rPr lang="en-US" sz="4000" dirty="0"/>
            </a:br>
            <a:br>
              <a:rPr lang="en-US" sz="4000" dirty="0"/>
            </a:br>
            <a:r>
              <a:rPr lang="en-US" sz="4000" b="1" dirty="0">
                <a:latin typeface="Comic Sans MS"/>
              </a:rPr>
              <a:t>Project in</a:t>
            </a:r>
            <a:br>
              <a:rPr lang="en-US" sz="4000" b="1" dirty="0"/>
            </a:br>
            <a:r>
              <a:rPr lang="en-US" sz="4000" b="1" dirty="0">
                <a:latin typeface="Comic Sans MS"/>
              </a:rPr>
              <a:t>Deep Learning in</a:t>
            </a:r>
            <a:br>
              <a:rPr lang="en-US" sz="4000" b="1" dirty="0"/>
            </a:br>
            <a:r>
              <a:rPr lang="en-US" sz="4000" b="1" dirty="0">
                <a:latin typeface="Comic Sans MS"/>
              </a:rPr>
              <a:t>Computational Biology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Administrative announcements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7476" y="1628800"/>
            <a:ext cx="7632848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800">
                <a:latin typeface="Arial"/>
                <a:cs typeface="Arial"/>
              </a:rPr>
              <a:t>The submission deadline: </a:t>
            </a:r>
            <a:r>
              <a:rPr lang="he-IL" sz="2800">
                <a:latin typeface="Arial"/>
                <a:cs typeface="Arial"/>
              </a:rPr>
              <a:t>______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42482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0"/>
            <a:ext cx="7772400" cy="1143000"/>
          </a:xfrm>
        </p:spPr>
        <p:txBody>
          <a:bodyPr/>
          <a:lstStyle/>
          <a:p>
            <a:pPr rtl="0"/>
            <a:r>
              <a:rPr lang="en-US" dirty="0"/>
              <a:t>Implementation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981075"/>
            <a:ext cx="8568952" cy="51831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>
                <a:latin typeface="Comic Sans MS"/>
              </a:rPr>
              <a:t>Input: the first argument is the output file, the second is the DBP name, and the third is the DNA probe test file.</a:t>
            </a:r>
            <a:endParaRPr lang="en-US" sz="2800" dirty="0">
              <a:latin typeface="Comic Sans MS"/>
            </a:endParaRP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rgbClr val="FF0000"/>
                </a:solidFill>
                <a:latin typeface="Comic Sans MS"/>
              </a:rPr>
              <a:t>python main.py &lt;</a:t>
            </a:r>
            <a:r>
              <a:rPr lang="en-US" sz="1800" dirty="0" err="1">
                <a:solidFill>
                  <a:srgbClr val="FF0000"/>
                </a:solidFill>
                <a:latin typeface="Comic Sans MS"/>
              </a:rPr>
              <a:t>ofile</a:t>
            </a:r>
            <a:r>
              <a:rPr lang="en-US" sz="1800" dirty="0">
                <a:solidFill>
                  <a:srgbClr val="FF0000"/>
                </a:solidFill>
                <a:latin typeface="Comic Sans MS"/>
              </a:rPr>
              <a:t>&gt; &lt;DBP&gt; &lt;DNA&gt; 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Comic Sans MS"/>
              </a:rPr>
              <a:t>The protein names are assigned according to their position in the </a:t>
            </a:r>
            <a:r>
              <a:rPr lang="en-US" sz="2800" dirty="0" err="1">
                <a:latin typeface="Comic Sans MS"/>
              </a:rPr>
              <a:t>test_DBPs</a:t>
            </a:r>
            <a:r>
              <a:rPr lang="en-US" sz="2800" dirty="0">
                <a:latin typeface="Comic Sans MS"/>
              </a:rPr>
              <a:t> file: line 1 is DBP1, line 2 is DBP2, and line 64 is DBP64.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Comic Sans MS"/>
              </a:rPr>
              <a:t>Output file to include: scores for sequences in DNA probe test file in the same order (textual file, each line one number)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 err="1"/>
              <a:t>Predicion</a:t>
            </a:r>
            <a:r>
              <a:rPr lang="en-US" sz="2800" dirty="0"/>
              <a:t> time will be measured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Reasonable documentation</a:t>
            </a:r>
          </a:p>
          <a:p>
            <a:pPr>
              <a:lnSpc>
                <a:spcPct val="90000"/>
              </a:lnSpc>
            </a:pP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>
          <a:xfrm>
            <a:off x="684213" y="404813"/>
            <a:ext cx="7772400" cy="1143000"/>
          </a:xfrm>
        </p:spPr>
        <p:txBody>
          <a:bodyPr/>
          <a:lstStyle/>
          <a:p>
            <a:r>
              <a:rPr lang="en-US"/>
              <a:t>Submission</a:t>
            </a:r>
            <a:endParaRPr lang="he-IL"/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685800" y="1484313"/>
            <a:ext cx="8062664" cy="5221287"/>
          </a:xfrm>
        </p:spPr>
        <p:txBody>
          <a:bodyPr/>
          <a:lstStyle/>
          <a:p>
            <a:r>
              <a:rPr lang="en-US" sz="2800" dirty="0">
                <a:solidFill>
                  <a:srgbClr val="FF0000"/>
                </a:solidFill>
              </a:rPr>
              <a:t>1. </a:t>
            </a:r>
            <a:r>
              <a:rPr lang="en-US" sz="2800" dirty="0"/>
              <a:t>Electronic design document</a:t>
            </a:r>
          </a:p>
          <a:p>
            <a:r>
              <a:rPr lang="en-US" sz="2800" dirty="0">
                <a:solidFill>
                  <a:srgbClr val="FF0000"/>
                </a:solidFill>
              </a:rPr>
              <a:t>2. </a:t>
            </a:r>
            <a:r>
              <a:rPr lang="en-US" sz="2800" dirty="0"/>
              <a:t>Electronic code submission</a:t>
            </a:r>
          </a:p>
          <a:p>
            <a:r>
              <a:rPr lang="en-US" sz="2800" dirty="0"/>
              <a:t>Submit by deadline</a:t>
            </a:r>
          </a:p>
          <a:p>
            <a:endParaRPr lang="en-US" sz="2800" dirty="0"/>
          </a:p>
          <a:p>
            <a:r>
              <a:rPr lang="en-US" sz="2800" dirty="0">
                <a:latin typeface="Comic Sans MS"/>
              </a:rPr>
              <a:t>64 scored </a:t>
            </a:r>
            <a:r>
              <a:rPr lang="en-US" sz="2800">
                <a:latin typeface="Comic Sans MS"/>
              </a:rPr>
              <a:t>PBM files, </a:t>
            </a:r>
            <a:r>
              <a:rPr lang="en-US" sz="2400">
                <a:latin typeface="Comic Sans MS"/>
              </a:rPr>
              <a:t>e.g., DBP1.txt</a:t>
            </a:r>
          </a:p>
          <a:p>
            <a:r>
              <a:rPr lang="en-US" sz="2800" dirty="0">
                <a:solidFill>
                  <a:srgbClr val="FF0000"/>
                </a:solidFill>
              </a:rPr>
              <a:t>3. </a:t>
            </a:r>
            <a:r>
              <a:rPr lang="en-US" sz="2800" dirty="0"/>
              <a:t>All score files zipped in one zip file</a:t>
            </a:r>
            <a:endParaRPr lang="he-IL" sz="2800" dirty="0"/>
          </a:p>
          <a:p>
            <a:endParaRPr lang="en-US" sz="2800" dirty="0"/>
          </a:p>
          <a:p>
            <a:r>
              <a:rPr lang="en-US" sz="2800" dirty="0"/>
              <a:t>Python code for runtime test</a:t>
            </a:r>
          </a:p>
          <a:p>
            <a:r>
              <a:rPr lang="en-US" sz="2800" dirty="0"/>
              <a:t>Submit via course website on </a:t>
            </a:r>
            <a:r>
              <a:rPr lang="en-US" sz="2800" dirty="0" err="1"/>
              <a:t>lemida</a:t>
            </a:r>
            <a:endParaRPr lang="en-US" sz="2800" dirty="0"/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endParaRPr lang="en-US" dirty="0"/>
          </a:p>
          <a:p>
            <a:endParaRPr lang="he-IL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88913"/>
            <a:ext cx="7772400" cy="1143000"/>
          </a:xfrm>
        </p:spPr>
        <p:txBody>
          <a:bodyPr/>
          <a:lstStyle/>
          <a:p>
            <a:pPr rtl="0"/>
            <a:r>
              <a:rPr lang="en-US"/>
              <a:t>Design document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41438"/>
            <a:ext cx="8134672" cy="4822825"/>
          </a:xfrm>
        </p:spPr>
        <p:txBody>
          <a:bodyPr/>
          <a:lstStyle/>
          <a:p>
            <a:r>
              <a:rPr lang="en-US" dirty="0"/>
              <a:t>3-5 pages (pdf), Hebrew/English</a:t>
            </a:r>
          </a:p>
          <a:p>
            <a:endParaRPr lang="en-US" dirty="0"/>
          </a:p>
          <a:p>
            <a:r>
              <a:rPr lang="en-US" dirty="0"/>
              <a:t>Briefly describe main goal, input and output of program</a:t>
            </a:r>
          </a:p>
          <a:p>
            <a:endParaRPr lang="en-US" dirty="0"/>
          </a:p>
          <a:p>
            <a:r>
              <a:rPr lang="en-US" dirty="0"/>
              <a:t>Describe neural net architecture, chosen parameters, and pre- and post-processing of the data, parameter search and training, results on training data, performance (time, memory, CPU)</a:t>
            </a:r>
          </a:p>
          <a:p>
            <a:endParaRPr lang="en-US" dirty="0"/>
          </a:p>
          <a:p>
            <a:pPr>
              <a:buFontTx/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60648"/>
            <a:ext cx="7886700" cy="994172"/>
          </a:xfrm>
        </p:spPr>
        <p:txBody>
          <a:bodyPr/>
          <a:lstStyle/>
          <a:p>
            <a:r>
              <a:rPr lang="en-US" dirty="0"/>
              <a:t>Grades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30647"/>
            <a:ext cx="7886700" cy="4262691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10% HW assignments submission (no grading)</a:t>
            </a:r>
          </a:p>
          <a:p>
            <a:endParaRPr lang="he-IL" dirty="0"/>
          </a:p>
          <a:p>
            <a:r>
              <a:rPr lang="en-US" strike="sngStrike" dirty="0"/>
              <a:t>20% final exam (must pass)</a:t>
            </a:r>
          </a:p>
          <a:p>
            <a:endParaRPr lang="en-US" dirty="0"/>
          </a:p>
          <a:p>
            <a:r>
              <a:rPr lang="en-US" dirty="0"/>
              <a:t>90% final project:</a:t>
            </a:r>
          </a:p>
          <a:p>
            <a:pPr lvl="1"/>
            <a:r>
              <a:rPr lang="en-US" dirty="0"/>
              <a:t>10% for implementation (modularity, clarity, documentation)</a:t>
            </a:r>
          </a:p>
          <a:p>
            <a:pPr lvl="1"/>
            <a:r>
              <a:rPr lang="en-US" dirty="0"/>
              <a:t>10% for efficiency: max(min(1,2-time[s]/600), 0)</a:t>
            </a:r>
          </a:p>
          <a:p>
            <a:pPr lvl="1"/>
            <a:r>
              <a:rPr lang="en-US" dirty="0"/>
              <a:t>40% for accuracy: 10%*f(</a:t>
            </a:r>
            <a:r>
              <a:rPr lang="en-US" dirty="0" err="1"/>
              <a:t>r,k</a:t>
            </a:r>
            <a:r>
              <a:rPr lang="en-US" dirty="0"/>
              <a:t>) + 30%*(score/</a:t>
            </a:r>
            <a:r>
              <a:rPr lang="en-US" dirty="0" err="1"/>
              <a:t>max_score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f(</a:t>
            </a:r>
            <a:r>
              <a:rPr lang="en-US" dirty="0" err="1"/>
              <a:t>r,k</a:t>
            </a:r>
            <a:r>
              <a:rPr lang="en-US" dirty="0"/>
              <a:t>) = r/k, k = #projects, r = rank (k at the top)</a:t>
            </a:r>
          </a:p>
          <a:p>
            <a:pPr lvl="1"/>
            <a:r>
              <a:rPr lang="en-US" dirty="0"/>
              <a:t>10% for final report</a:t>
            </a:r>
          </a:p>
          <a:p>
            <a:pPr lvl="1"/>
            <a:endParaRPr lang="en-US" dirty="0"/>
          </a:p>
          <a:p>
            <a:r>
              <a:rPr lang="en-US" dirty="0"/>
              <a:t>HW assignments and final exam are individual</a:t>
            </a:r>
          </a:p>
          <a:p>
            <a:r>
              <a:rPr lang="en-US" dirty="0"/>
              <a:t>Project submission is be in pairs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16835"/>
            <a:ext cx="2619375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786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0"/>
            <a:ext cx="8458200" cy="1143000"/>
          </a:xfrm>
        </p:spPr>
        <p:txBody>
          <a:bodyPr/>
          <a:lstStyle/>
          <a:p>
            <a:r>
              <a:rPr lang="en-US" dirty="0"/>
              <a:t>Grading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714" y="908720"/>
            <a:ext cx="9053286" cy="5243658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dirty="0"/>
              <a:t>30% accuracy = </a:t>
            </a:r>
            <a:r>
              <a:rPr lang="en-US" dirty="0" err="1"/>
              <a:t>Corr</a:t>
            </a:r>
            <a:r>
              <a:rPr lang="en-US" dirty="0"/>
              <a:t> / max(</a:t>
            </a:r>
            <a:r>
              <a:rPr lang="en-US" dirty="0" err="1"/>
              <a:t>Corr</a:t>
            </a:r>
            <a:r>
              <a:rPr lang="en-US" dirty="0"/>
              <a:t>)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Comic Sans MS"/>
              </a:rPr>
              <a:t>Average Corr over 64 submitted</a:t>
            </a:r>
            <a:r>
              <a:rPr lang="en-US">
                <a:latin typeface="Comic Sans MS"/>
              </a:rPr>
              <a:t> DNA files</a:t>
            </a:r>
          </a:p>
          <a:p>
            <a:pPr lvl="1">
              <a:spcAft>
                <a:spcPts val="1200"/>
              </a:spcAft>
            </a:pPr>
            <a:r>
              <a:rPr lang="en-US" dirty="0"/>
              <a:t>max(</a:t>
            </a:r>
            <a:r>
              <a:rPr lang="en-US" dirty="0" err="1"/>
              <a:t>Corr</a:t>
            </a:r>
            <a:r>
              <a:rPr lang="en-US" dirty="0"/>
              <a:t>) = the best team’s average </a:t>
            </a:r>
            <a:r>
              <a:rPr lang="en-US" dirty="0" err="1"/>
              <a:t>Corr</a:t>
            </a:r>
            <a:endParaRPr lang="en-US" dirty="0"/>
          </a:p>
          <a:p>
            <a:pPr>
              <a:spcAft>
                <a:spcPts val="1200"/>
              </a:spcAft>
            </a:pPr>
            <a:r>
              <a:rPr lang="en-US" dirty="0"/>
              <a:t>10% rank among projects / total #projects</a:t>
            </a:r>
          </a:p>
          <a:p>
            <a:pPr>
              <a:spcAft>
                <a:spcPts val="1200"/>
              </a:spcAft>
            </a:pPr>
            <a:r>
              <a:rPr lang="en-US" dirty="0"/>
              <a:t>10% run-time </a:t>
            </a: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= max(min(1, 2-time[s]/</a:t>
            </a:r>
            <a:r>
              <a:rPr lang="he-IL" sz="2400" dirty="0">
                <a:latin typeface="Arial" charset="0"/>
                <a:ea typeface="Arial" charset="0"/>
                <a:cs typeface="Arial" charset="0"/>
              </a:rPr>
              <a:t>6</a:t>
            </a: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0</a:t>
            </a:r>
            <a:r>
              <a:rPr lang="he-IL" sz="2400" dirty="0">
                <a:latin typeface="Arial" charset="0"/>
                <a:ea typeface="Arial" charset="0"/>
                <a:cs typeface="Arial" charset="0"/>
              </a:rPr>
              <a:t>0</a:t>
            </a: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), 0) </a:t>
            </a:r>
            <a:r>
              <a:rPr lang="en-US" sz="2400" dirty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in average</a:t>
            </a:r>
            <a:endParaRPr lang="en-US" dirty="0">
              <a:solidFill>
                <a:srgbClr val="FF0000"/>
              </a:solidFill>
              <a:latin typeface="Arial" charset="0"/>
              <a:ea typeface="Arial" charset="0"/>
              <a:cs typeface="Arial" charset="0"/>
            </a:endParaRPr>
          </a:p>
          <a:p>
            <a:pPr lvl="1">
              <a:spcAft>
                <a:spcPts val="1200"/>
              </a:spcAft>
            </a:pPr>
            <a:r>
              <a:rPr lang="en-US">
                <a:latin typeface="Comic Sans MS"/>
              </a:rPr>
              <a:t>Prediction time on 64 DBPs in seconds</a:t>
            </a:r>
          </a:p>
          <a:p>
            <a:pPr>
              <a:spcAft>
                <a:spcPts val="1200"/>
              </a:spcAft>
            </a:pPr>
            <a:r>
              <a:rPr lang="en-US" dirty="0"/>
              <a:t>10% final report</a:t>
            </a:r>
          </a:p>
          <a:p>
            <a:pPr>
              <a:spcAft>
                <a:spcPts val="1200"/>
              </a:spcAft>
            </a:pPr>
            <a:r>
              <a:rPr lang="en-US" dirty="0"/>
              <a:t>10% for implementation (modularity, clarity, documentation)</a:t>
            </a:r>
          </a:p>
        </p:txBody>
      </p:sp>
    </p:spTree>
    <p:extLst>
      <p:ext uri="{BB962C8B-B14F-4D97-AF65-F5344CB8AC3E}">
        <p14:creationId xmlns:p14="http://schemas.microsoft.com/office/powerpoint/2010/main" val="66797758"/>
      </p:ext>
    </p:extLst>
  </p:cSld>
  <p:clrMapOvr>
    <a:masterClrMapping/>
  </p:clrMapOvr>
</p:sld>
</file>

<file path=ppt/theme/theme1.xml><?xml version="1.0" encoding="utf-8"?>
<a:theme xmlns:a="http://schemas.openxmlformats.org/drawingml/2006/main" name="12_Algmb03">
  <a:themeElements>
    <a:clrScheme name="Algmb0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2_Algmb03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lgmb0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lgmb03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lgmb03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lgmb03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lgmb03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lgmb03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lgmb03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26581</TotalTime>
  <Words>397</Words>
  <Application>Microsoft Office PowerPoint</Application>
  <PresentationFormat>‫הצגה על המסך (4:3)</PresentationFormat>
  <Paragraphs>58</Paragraphs>
  <Slides>7</Slides>
  <Notes>5</Notes>
  <HiddenSlides>0</HiddenSlides>
  <MMClips>0</MMClips>
  <ScaleCrop>false</ScaleCrop>
  <HeadingPairs>
    <vt:vector size="4" baseType="variant"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7</vt:i4>
      </vt:variant>
    </vt:vector>
  </HeadingPairs>
  <TitlesOfParts>
    <vt:vector size="8" baseType="lpstr">
      <vt:lpstr>12_Algmb03</vt:lpstr>
      <vt:lpstr>Predicting  PBM binding  based on an amino acid sequence  Project in Deep Learning in Computational Biology</vt:lpstr>
      <vt:lpstr>Administrative announcements</vt:lpstr>
      <vt:lpstr>Implementation</vt:lpstr>
      <vt:lpstr>Submission</vt:lpstr>
      <vt:lpstr>Design document</vt:lpstr>
      <vt:lpstr>Grades</vt:lpstr>
      <vt:lpstr>Grading</vt:lpstr>
    </vt:vector>
  </TitlesOfParts>
  <Company>Tel Aviv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מחלות, שבבים ומחשבים</dc:title>
  <dc:creator>Ron Shamir</dc:creator>
  <cp:lastModifiedBy>Yaron Orenstein</cp:lastModifiedBy>
  <cp:revision>212</cp:revision>
  <dcterms:created xsi:type="dcterms:W3CDTF">2007-03-10T15:48:25Z</dcterms:created>
  <dcterms:modified xsi:type="dcterms:W3CDTF">2026-05-24T14:37:38Z</dcterms:modified>
</cp:coreProperties>
</file>